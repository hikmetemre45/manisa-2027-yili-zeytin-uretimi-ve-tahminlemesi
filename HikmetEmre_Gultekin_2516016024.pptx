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613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04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183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896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6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236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641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133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91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33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86318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290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479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802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1155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8127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0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 /><Relationship Id="rId3" Type="http://schemas.openxmlformats.org/officeDocument/2006/relationships/hyperlink" Target="https://manisa.tarimorman.gov.tr/" TargetMode="External" /><Relationship Id="rId7" Type="http://schemas.openxmlformats.org/officeDocument/2006/relationships/hyperlink" Target="https://arastirma.tarimorman.gov.tr/zae" TargetMode="External" /><Relationship Id="rId2" Type="http://schemas.openxmlformats.org/officeDocument/2006/relationships/hyperlink" Target="https://biruni.tuik.gov.tr/medas/?kn=91&amp;locale=tr" TargetMode="Externa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seaborn.pydata.org/" TargetMode="External" /><Relationship Id="rId5" Type="http://schemas.openxmlformats.org/officeDocument/2006/relationships/hyperlink" Target="https://pandas.pydata.org/" TargetMode="External" /><Relationship Id="rId4" Type="http://schemas.openxmlformats.org/officeDocument/2006/relationships/hyperlink" Target="https://scikit-learn.org/stable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A83E73-9FD5-564B-646D-881BBC16AD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F045CC9B-17E7-CBE5-D6C9-9A2BC679D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5600" b="1" dirty="0">
                <a:solidFill>
                  <a:srgbClr val="FFFFFF"/>
                </a:solidFill>
              </a:rPr>
              <a:t>MANİSA ZEYTİN ÜRETİMİ ANALİZİ VE 2027 YILI TAHMİNİ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8FDF711-FE6C-52E1-033C-DECE7CF74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tr-TR" dirty="0">
                <a:solidFill>
                  <a:srgbClr val="FFFFFF"/>
                </a:solidFill>
              </a:rPr>
              <a:t>Hikmet Emre Gültekin </a:t>
            </a:r>
          </a:p>
          <a:p>
            <a:r>
              <a:rPr lang="tr-TR" dirty="0">
                <a:solidFill>
                  <a:srgbClr val="FFFFFF"/>
                </a:solidFill>
              </a:rPr>
              <a:t>2516016024</a:t>
            </a:r>
          </a:p>
        </p:txBody>
      </p:sp>
    </p:spTree>
    <p:extLst>
      <p:ext uri="{BB962C8B-B14F-4D97-AF65-F5344CB8AC3E}">
        <p14:creationId xmlns:p14="http://schemas.microsoft.com/office/powerpoint/2010/main" val="3102128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0A22F8-A69F-E086-710E-218C69EE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700"/>
              <a:t>Keşifsel Veri Analizi: Aykırı Değerler</a:t>
            </a:r>
            <a:br>
              <a:rPr lang="tr-TR" sz="3700"/>
            </a:br>
            <a:endParaRPr lang="tr-TR" sz="37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DADF847-4192-CB8D-F00E-506527053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tr-TR" sz="1400" dirty="0"/>
              <a:t>Akhisar ilçesi, diğer tüm ilçelere kıyasla devasa bir veri aralığına ve üretim dalgalanmasına sahiptir. Maksimum tonaj 160.815'e ulaşmıştır.</a:t>
            </a:r>
          </a:p>
          <a:p>
            <a:pPr>
              <a:lnSpc>
                <a:spcPct val="110000"/>
              </a:lnSpc>
            </a:pPr>
            <a:r>
              <a:rPr lang="tr-TR" sz="1400" dirty="0"/>
              <a:t>Kırkağaç, Salihli ve Saruhanlı ilçelerinde de kendi kapasiteleri içerisinde ekstrem üretim noktaları (aykırı değerler) saptanmıştır.</a:t>
            </a:r>
          </a:p>
          <a:p>
            <a:pPr>
              <a:lnSpc>
                <a:spcPct val="110000"/>
              </a:lnSpc>
            </a:pPr>
            <a:r>
              <a:rPr lang="tr-TR" sz="1400" dirty="0"/>
              <a:t>Selendi gibi daha düşük tarımsal kapasiteye sahip ilçelerde ise maksimum üretim 546 ton seviyesinde kalmıştır.</a:t>
            </a:r>
          </a:p>
          <a:p>
            <a:pPr>
              <a:lnSpc>
                <a:spcPct val="110000"/>
              </a:lnSpc>
            </a:pPr>
            <a:r>
              <a:rPr lang="tr-TR" sz="1400" dirty="0"/>
              <a:t>Grafikteki aykırı değerler bir veri hatası değil, "var yılı / yok yılı" döngüsünün istatistiksel sonucudur.</a:t>
            </a:r>
          </a:p>
          <a:p>
            <a:pPr>
              <a:lnSpc>
                <a:spcPct val="110000"/>
              </a:lnSpc>
            </a:pPr>
            <a:endParaRPr lang="tr-TR" sz="14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3DF7801-549B-DD43-63DC-6D7E44EB0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6" b="-1"/>
          <a:stretch>
            <a:fillRect/>
          </a:stretch>
        </p:blipFill>
        <p:spPr>
          <a:xfrm>
            <a:off x="713232" y="1752505"/>
            <a:ext cx="6029212" cy="426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5197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8D9D9BA-5A57-7A71-A76E-632B553D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tr-T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Zeytin</a:t>
            </a:r>
            <a:r>
              <a:rPr lang="tr-TR" dirty="0"/>
              <a:t> </a:t>
            </a:r>
            <a:r>
              <a:rPr lang="tr-T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Üretim</a:t>
            </a:r>
            <a:r>
              <a:rPr lang="tr-TR" dirty="0"/>
              <a:t> </a:t>
            </a:r>
            <a:r>
              <a:rPr lang="tr-T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İstatistikleri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aphicFrame>
        <p:nvGraphicFramePr>
          <p:cNvPr id="10" name="İçerik Yer Tutucusu 9">
            <a:extLst>
              <a:ext uri="{FF2B5EF4-FFF2-40B4-BE49-F238E27FC236}">
                <a16:creationId xmlns:a16="http://schemas.microsoft.com/office/drawing/2014/main" id="{44B4CA20-6AD5-E1B7-5E23-0C305CAB72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947725"/>
              </p:ext>
            </p:extLst>
          </p:nvPr>
        </p:nvGraphicFramePr>
        <p:xfrm>
          <a:off x="3570993" y="1628764"/>
          <a:ext cx="8357770" cy="4398405"/>
        </p:xfrm>
        <a:graphic>
          <a:graphicData uri="http://schemas.openxmlformats.org/drawingml/2006/table">
            <a:tbl>
              <a:tblPr firstRow="1" bandRow="1"/>
              <a:tblGrid>
                <a:gridCol w="1480022">
                  <a:extLst>
                    <a:ext uri="{9D8B030D-6E8A-4147-A177-3AD203B41FA5}">
                      <a16:colId xmlns:a16="http://schemas.microsoft.com/office/drawing/2014/main" val="270665951"/>
                    </a:ext>
                  </a:extLst>
                </a:gridCol>
                <a:gridCol w="1232601">
                  <a:extLst>
                    <a:ext uri="{9D8B030D-6E8A-4147-A177-3AD203B41FA5}">
                      <a16:colId xmlns:a16="http://schemas.microsoft.com/office/drawing/2014/main" val="2739769879"/>
                    </a:ext>
                  </a:extLst>
                </a:gridCol>
                <a:gridCol w="1309320">
                  <a:extLst>
                    <a:ext uri="{9D8B030D-6E8A-4147-A177-3AD203B41FA5}">
                      <a16:colId xmlns:a16="http://schemas.microsoft.com/office/drawing/2014/main" val="2125402875"/>
                    </a:ext>
                  </a:extLst>
                </a:gridCol>
                <a:gridCol w="1612361">
                  <a:extLst>
                    <a:ext uri="{9D8B030D-6E8A-4147-A177-3AD203B41FA5}">
                      <a16:colId xmlns:a16="http://schemas.microsoft.com/office/drawing/2014/main" val="580463797"/>
                    </a:ext>
                  </a:extLst>
                </a:gridCol>
                <a:gridCol w="774203">
                  <a:extLst>
                    <a:ext uri="{9D8B030D-6E8A-4147-A177-3AD203B41FA5}">
                      <a16:colId xmlns:a16="http://schemas.microsoft.com/office/drawing/2014/main" val="3660086165"/>
                    </a:ext>
                  </a:extLst>
                </a:gridCol>
                <a:gridCol w="1084916">
                  <a:extLst>
                    <a:ext uri="{9D8B030D-6E8A-4147-A177-3AD203B41FA5}">
                      <a16:colId xmlns:a16="http://schemas.microsoft.com/office/drawing/2014/main" val="2322425101"/>
                    </a:ext>
                  </a:extLst>
                </a:gridCol>
                <a:gridCol w="864347">
                  <a:extLst>
                    <a:ext uri="{9D8B030D-6E8A-4147-A177-3AD203B41FA5}">
                      <a16:colId xmlns:a16="http://schemas.microsoft.com/office/drawing/2014/main" val="3630521022"/>
                    </a:ext>
                  </a:extLst>
                </a:gridCol>
              </a:tblGrid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İlçe Adı (Kodu)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Gözlem (Count)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Ortalama (Mean)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Standart Sapma (Std)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Minimum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Medyan (50%)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Maksimum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86670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 dirty="0">
                          <a:effectLst/>
                        </a:rPr>
                        <a:t>Akhisar (1118)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48,906.57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44,690.79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49,617.50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160,815.0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06169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Kırkağaç (1470)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13,519.02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8,246.50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3,701.0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10,175.00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37,994.0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795368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Saruhanlı (1606)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12,042.11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 dirty="0">
                          <a:effectLst/>
                        </a:rPr>
                        <a:t>19,033.86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1,279.0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7,900.00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120,326.0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341512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Salihli (1590)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9,618.95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8,340.16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1,605.0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6,946.00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34,328.0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549592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Köprübaşı (1965)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5,665.36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10,507.80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65.0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590.00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40,280.0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962295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Soma (1634)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5,433.05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5,841.88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821.0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4,573.50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36,202.0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336832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Şehzadeler (2086)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1,963.86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2,386.51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1,650.00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10,585.0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169589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Turgutlu (1689)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1,854.32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1,598.14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68.0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1,389.50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7,411.0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140733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Merkez (1513)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1,773.34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2,508.03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0.00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9,735.0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570483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Gölmarmara (1793)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1,392.16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1,163.88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1,271.00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3,600.0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584508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Gördes (1362)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1,323.32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1,239.22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64.0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1,117.00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5,467.0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605025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Ahmetli (1751)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1,305.82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1,496.85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787.50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6,306.0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937702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Alaşehir (1127)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1,125.80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880.91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234.0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912.00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5,265.0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75880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Sarıgöl (1600)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975.11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477.52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230.0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1,004.50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2,154.0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218250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Demirci (1269)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932.34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780.94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30.0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852.00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3,011.0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03738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Kula (1489)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776.70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1,027.89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119.0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415.00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4,043.0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67218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Yunusemre (2087)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432.20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552.24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0.0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230.00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2,319.0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438726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Selendi (1613)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44.0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173.73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151.41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2.0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>
                          <a:effectLst/>
                        </a:rPr>
                        <a:t>132.50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tr-TR" sz="1100" dirty="0">
                          <a:effectLst/>
                        </a:rPr>
                        <a:t>546.0</a:t>
                      </a:r>
                    </a:p>
                  </a:txBody>
                  <a:tcPr marL="6425" marR="6425" marT="4284" marB="4284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954286"/>
                  </a:ext>
                </a:extLst>
              </a:tr>
            </a:tbl>
          </a:graphicData>
        </a:graphic>
      </p:graphicFrame>
      <p:sp>
        <p:nvSpPr>
          <p:cNvPr id="20" name="Metin kutusu 19">
            <a:extLst>
              <a:ext uri="{FF2B5EF4-FFF2-40B4-BE49-F238E27FC236}">
                <a16:creationId xmlns:a16="http://schemas.microsoft.com/office/drawing/2014/main" id="{54E0DC09-8F0D-6A02-A848-6740EF4625B0}"/>
              </a:ext>
            </a:extLst>
          </p:cNvPr>
          <p:cNvSpPr txBox="1"/>
          <p:nvPr/>
        </p:nvSpPr>
        <p:spPr>
          <a:xfrm>
            <a:off x="84808" y="1610345"/>
            <a:ext cx="33466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 Akhisar, ortalama 48.906 ton ve maksimum 160.815 ton üretimiyle Manisa'nın açık ara en büyük zeytin üreticisi konumundadır; ancak yüksek standart sapma değeri (44.690), bu ilçedeki üretim rekoltesinin yıllar arasında devasa dalgalanmalar yaşadığını göstermektedir. Selendi ve </a:t>
            </a:r>
            <a:r>
              <a:rPr lang="tr-TR" dirty="0" err="1"/>
              <a:t>Yunusemre</a:t>
            </a:r>
            <a:r>
              <a:rPr lang="tr-TR" dirty="0"/>
              <a:t> gibi ilçeler ise kapasite olarak en alt sıralarda yer alıp, çok daha sınırlı ve dar bir üretim bandında seyretmektedir.</a:t>
            </a:r>
          </a:p>
        </p:txBody>
      </p:sp>
    </p:spTree>
    <p:extLst>
      <p:ext uri="{BB962C8B-B14F-4D97-AF65-F5344CB8AC3E}">
        <p14:creationId xmlns:p14="http://schemas.microsoft.com/office/powerpoint/2010/main" val="44141731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BD9B60-1088-E25E-2ECD-E050A5AFF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2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İlçeler Arası Korelasyon</a:t>
            </a:r>
            <a:br>
              <a:rPr lang="tr-TR" sz="2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tr-TR" sz="28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E03B83-D3DB-ECB7-CAF1-8FA35583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905" y="2176036"/>
            <a:ext cx="4261104" cy="412188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tr-TR" sz="1700"/>
              <a:t>Yıllar ve ilçelerin zeytin üretim trendleri arasındaki ilişkiyi ölçmek adına Korelasyon Isı Haritası oluşturulmuştur.</a:t>
            </a:r>
          </a:p>
          <a:p>
            <a:pPr>
              <a:lnSpc>
                <a:spcPct val="110000"/>
              </a:lnSpc>
            </a:pPr>
            <a:r>
              <a:rPr lang="tr-TR" sz="1700"/>
              <a:t>Isı haritasındaki renk dağılımları ve katsayılar incelendiğinde, coğrafi olarak birbirine yakın veya benzer iklim özelliklerine sahip bazı ilçelerin üretim artış ve azalışlarında birbirleriyle doğrudan ilişkili hareket ettiği tespit edilmiştir.</a:t>
            </a:r>
          </a:p>
          <a:p>
            <a:pPr>
              <a:lnSpc>
                <a:spcPct val="110000"/>
              </a:lnSpc>
            </a:pPr>
            <a:r>
              <a:rPr lang="tr-TR" sz="1700"/>
              <a:t>Bu bölgesel kümelenme eğilimleri, algoritmaların tahmin gücünü artıran en önemli veri yapı taşlarından biridir.</a:t>
            </a:r>
          </a:p>
          <a:p>
            <a:pPr>
              <a:lnSpc>
                <a:spcPct val="110000"/>
              </a:lnSpc>
            </a:pPr>
            <a:endParaRPr lang="tr-TR" sz="170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8AA38EC-1044-3DF2-C490-0E7676546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113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76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267EEE4-6354-4F1C-9484-951F0EB92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0"/>
            <a:ext cx="121856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9321DE2-422E-1C5C-C7EC-D4202115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768" y="609600"/>
            <a:ext cx="5498361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Makine Öğrenmesi ile Kümeleme</a:t>
            </a:r>
            <a:br>
              <a:rPr lang="tr-TR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tr-TR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E5A83F9-E6B8-40BD-9C0D-9A6F15650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893696-1CAE-9EF4-EC46-76A6EC340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770" y="2160589"/>
            <a:ext cx="5549732" cy="3880773"/>
          </a:xfrm>
        </p:spPr>
        <p:txBody>
          <a:bodyPr>
            <a:normAutofit/>
          </a:bodyPr>
          <a:lstStyle/>
          <a:p>
            <a:r>
              <a:rPr lang="tr-TR" dirty="0"/>
              <a:t>Denetimsiz makine öğrenmesi yöntemleriyle (K-</a:t>
            </a:r>
            <a:r>
              <a:rPr lang="tr-TR" dirty="0" err="1"/>
              <a:t>Means</a:t>
            </a:r>
            <a:r>
              <a:rPr lang="tr-TR" dirty="0"/>
              <a:t> ve Hiyerarşik), ilçeler üretim karakteristiklerine göre gruplandırılmıştır.</a:t>
            </a:r>
          </a:p>
          <a:p>
            <a:r>
              <a:rPr lang="tr-TR" dirty="0"/>
              <a:t>Model performansları birbirine çok yakındır: K-</a:t>
            </a:r>
            <a:r>
              <a:rPr lang="tr-TR" dirty="0" err="1"/>
              <a:t>Means</a:t>
            </a:r>
            <a:r>
              <a:rPr lang="tr-TR" dirty="0"/>
              <a:t> (0.222), Hiyerarşik Kümeleme (0.212).</a:t>
            </a:r>
          </a:p>
          <a:p>
            <a:r>
              <a:rPr lang="tr-TR" dirty="0"/>
              <a:t>PCA ile 2 boyutlu düzleme indirgenen (PC1 ve PC2) görsellerde ilçelerin 3 farklı sınıfa ayrıldığı görülmüştür.</a:t>
            </a:r>
          </a:p>
          <a:p>
            <a:r>
              <a:rPr lang="tr-TR" dirty="0"/>
              <a:t>Özellikle Gölmarmara, Demirci ve Akhisar'ın dağılım tablosunun sağ ekseninde çok benzer bir davranış sergilediği kanıtlanmıştır.</a:t>
            </a:r>
          </a:p>
          <a:p>
            <a:endParaRPr lang="tr-TR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52F16E71-B640-C424-E814-9B7452FE3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61" b="-1"/>
          <a:stretch>
            <a:fillRect/>
          </a:stretch>
        </p:blipFill>
        <p:spPr>
          <a:xfrm>
            <a:off x="6539502" y="10"/>
            <a:ext cx="5649321" cy="3448414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51C39814-DB90-48DD-593A-4C676B04D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0" r="7346" b="1"/>
          <a:stretch>
            <a:fillRect/>
          </a:stretch>
        </p:blipFill>
        <p:spPr>
          <a:xfrm>
            <a:off x="6488130" y="3437472"/>
            <a:ext cx="5697520" cy="342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8630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AA974A-8C48-57B6-FF37-A1834D08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7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Zaman Serisi ve Regresyon</a:t>
            </a:r>
            <a:br>
              <a:rPr lang="tr-TR" sz="37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tr-TR" sz="37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2B3648-6C78-3E2F-FBE8-6B5052991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tr-TR" sz="1400"/>
              <a:t>Veri setindeki tarihsel üretim miktarları (mavi noktalar) üzerinden doğrusal regresyon çizgileri (kırmızı) çizilmiş ve ilçelerin genel büyüme veya daralma eğilimleri ortaya çıkarılmıştır.</a:t>
            </a:r>
          </a:p>
          <a:p>
            <a:pPr>
              <a:lnSpc>
                <a:spcPct val="110000"/>
              </a:lnSpc>
            </a:pPr>
            <a:r>
              <a:rPr lang="tr-TR" sz="1400"/>
              <a:t>Gördes, Köprübaşı ve Saruhanlı ilçelerine ait grafiklerde, üretim trendinin geçmişten günümüze yukarı yönlü güçlü bir büyüme ivmesi sergilediği saptanmıştır.</a:t>
            </a:r>
          </a:p>
          <a:p>
            <a:pPr>
              <a:lnSpc>
                <a:spcPct val="110000"/>
              </a:lnSpc>
            </a:pPr>
            <a:r>
              <a:rPr lang="tr-TR" sz="1400"/>
              <a:t>Buna karşın Sarıgöl, Selendi ve Turgutlu ilçelerinde regresyon çizgisinin daha yatay seyrettiği ve kapasitenin belirli bir bant aralığında stabil kaldığı görülmektedir.</a:t>
            </a:r>
          </a:p>
          <a:p>
            <a:pPr>
              <a:lnSpc>
                <a:spcPct val="110000"/>
              </a:lnSpc>
            </a:pPr>
            <a:endParaRPr lang="tr-TR" sz="140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8DF8F5D-EC26-4A3A-9264-708E9C47F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93" y="1495099"/>
            <a:ext cx="6979105" cy="3198348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B2C4E517-6144-9494-E43B-83BA44852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81" y="4693447"/>
            <a:ext cx="6979105" cy="199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2905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58CEA3-EE2B-0C44-BFA3-A209474A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93" y="15341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tr-T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2027 Yılı Zeytin Üretim Tahminleri</a:t>
            </a:r>
            <a:br>
              <a:rPr lang="tr-T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tr-T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A8A33A-46CF-8108-5EA9-F9B4B0891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5433"/>
            <a:ext cx="5238206" cy="5453900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tr-TR" altLang="tr-TR" b="1" dirty="0">
                <a:solidFill>
                  <a:schemeClr val="tx1"/>
                </a:solidFill>
                <a:latin typeface="Arial" panose="020B0604020202020204" pitchFamily="34" charset="0"/>
              </a:rPr>
              <a:t>Güçlü Büyüme: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Köprübaşı, Salihli, Saruhanlı, Gördes ve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Şehzadeler'de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üretim düzenli olarak artmaktadır.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tr-TR" altLang="tr-TR" b="1" dirty="0">
                <a:solidFill>
                  <a:schemeClr val="tx1"/>
                </a:solidFill>
                <a:latin typeface="Arial" panose="020B0604020202020204" pitchFamily="34" charset="0"/>
              </a:rPr>
              <a:t>Yüksek Hacim ve Dalgalanma: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Akhisar 150.000 ton üzeri kapasitesiyle zirvededir, ancak yıllar arası üretim çok değişkendir.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tr-TR" altLang="tr-TR" b="1" dirty="0">
                <a:solidFill>
                  <a:schemeClr val="tx1"/>
                </a:solidFill>
                <a:latin typeface="Arial" panose="020B0604020202020204" pitchFamily="34" charset="0"/>
              </a:rPr>
              <a:t>Yeni İlçe Dinamikleri: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Yunusemre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stabil bir seyir izlerken, eski Merkez ilçe verisi düşüş trendiyle kesilmiştir.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tr-TR" altLang="tr-TR" b="1" dirty="0">
                <a:solidFill>
                  <a:schemeClr val="tx1"/>
                </a:solidFill>
                <a:latin typeface="Arial" panose="020B0604020202020204" pitchFamily="34" charset="0"/>
              </a:rPr>
              <a:t>Üretimi Düşenler: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Selendi'de üretim geçmişten günümüze net bir azalma eğilimindedir.</a:t>
            </a:r>
            <a:endParaRPr lang="tr-TR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B319AF81-8730-0C33-21AE-BA0ECFC65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75" b="1"/>
          <a:stretch>
            <a:fillRect/>
          </a:stretch>
        </p:blipFill>
        <p:spPr>
          <a:xfrm>
            <a:off x="5406770" y="1088362"/>
            <a:ext cx="6579747" cy="521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4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97A75D-FF4D-95E4-522B-6AD05444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Sonuç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;</a:t>
            </a:r>
          </a:p>
        </p:txBody>
      </p:sp>
      <p:sp>
        <p:nvSpPr>
          <p:cNvPr id="12" name="İçerik Yer Tutucusu 11">
            <a:extLst>
              <a:ext uri="{FF2B5EF4-FFF2-40B4-BE49-F238E27FC236}">
                <a16:creationId xmlns:a16="http://schemas.microsoft.com/office/drawing/2014/main" id="{5EBB5B86-897E-36D9-9883-E962B29DD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7067"/>
            <a:ext cx="8969083" cy="450429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1300" dirty="0"/>
              <a:t>Regresyon algoritmaları çalıştırılarak 2027 yılı tahmini üretim tonajları hesaplanmış ve yatay çubuk grafik haline getirilmiştir.</a:t>
            </a:r>
          </a:p>
          <a:p>
            <a:pPr>
              <a:lnSpc>
                <a:spcPct val="90000"/>
              </a:lnSpc>
            </a:pPr>
            <a:r>
              <a:rPr lang="tr-TR" sz="1300" dirty="0"/>
              <a:t>2027'de en yüksek üretimi yapması beklenen ilçe açık ara farkla </a:t>
            </a:r>
            <a:r>
              <a:rPr lang="tr-TR" sz="1300" b="1" dirty="0"/>
              <a:t>Manisa (Akhisar)</a:t>
            </a:r>
            <a:r>
              <a:rPr lang="tr-TR" sz="1300" dirty="0"/>
              <a:t> olarak öngörülmüştür (73,514.01 Ton).</a:t>
            </a:r>
          </a:p>
          <a:p>
            <a:pPr>
              <a:lnSpc>
                <a:spcPct val="90000"/>
              </a:lnSpc>
            </a:pPr>
            <a:r>
              <a:rPr lang="tr-TR" sz="1300" dirty="0"/>
              <a:t>Akhisar'ı sırasıyla </a:t>
            </a:r>
            <a:r>
              <a:rPr lang="tr-TR" sz="1300" b="1" dirty="0"/>
              <a:t>Saruhanlı</a:t>
            </a:r>
            <a:r>
              <a:rPr lang="tr-TR" sz="1300" dirty="0"/>
              <a:t> (28,810.81 Ton) ve </a:t>
            </a:r>
            <a:r>
              <a:rPr lang="tr-TR" sz="1300" b="1" dirty="0"/>
              <a:t>Salihli</a:t>
            </a:r>
            <a:r>
              <a:rPr lang="tr-TR" sz="1300" dirty="0"/>
              <a:t> (21,632.15 Ton) takip etmektedir.</a:t>
            </a:r>
          </a:p>
          <a:p>
            <a:pPr>
              <a:lnSpc>
                <a:spcPct val="90000"/>
              </a:lnSpc>
            </a:pPr>
            <a:r>
              <a:rPr lang="tr-TR" sz="1300" dirty="0"/>
              <a:t>Manisa Merkez ilçe için yapılan geçmiş veri bazlı hesaplamada ise 2027 üretim tahmini 0.00 ton olarak karşımıza çıkmaktadır.</a:t>
            </a:r>
          </a:p>
          <a:p>
            <a:pPr>
              <a:lnSpc>
                <a:spcPct val="90000"/>
              </a:lnSpc>
            </a:pPr>
            <a:endParaRPr lang="tr-TR" sz="1300" dirty="0"/>
          </a:p>
        </p:txBody>
      </p:sp>
    </p:spTree>
    <p:extLst>
      <p:ext uri="{BB962C8B-B14F-4D97-AF65-F5344CB8AC3E}">
        <p14:creationId xmlns:p14="http://schemas.microsoft.com/office/powerpoint/2010/main" val="314722461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2746AC-B1BF-AA96-8A19-5C46BEA9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409" y="791539"/>
            <a:ext cx="6980274" cy="299664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tr-TR" sz="6600" dirty="0"/>
              <a:t>BENİ DİNLEDİĞİNİZ İÇİN TEŞEKKÜRLER</a:t>
            </a:r>
            <a:endParaRPr lang="en-US" sz="66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E7DF809-6756-6478-73D8-24B48ADE4B52}"/>
              </a:ext>
            </a:extLst>
          </p:cNvPr>
          <p:cNvSpPr txBox="1"/>
          <p:nvPr/>
        </p:nvSpPr>
        <p:spPr>
          <a:xfrm>
            <a:off x="3478161" y="3708493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/>
              <a:t>Kaynakça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B02BB9C-503A-3130-6A8C-24C30D3A76BA}"/>
              </a:ext>
            </a:extLst>
          </p:cNvPr>
          <p:cNvSpPr txBox="1"/>
          <p:nvPr/>
        </p:nvSpPr>
        <p:spPr>
          <a:xfrm>
            <a:off x="3478161" y="4479045"/>
            <a:ext cx="61009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hlinkClick r:id="rId2" tooltip="null"/>
              </a:rPr>
              <a:t>https://biruni.tuik.gov.tr/medas/?kn=91&amp;locale=tr</a:t>
            </a:r>
            <a:r>
              <a:rPr lang="tr-TR" dirty="0">
                <a:hlinkClick r:id="rId3" tooltip="null"/>
              </a:rPr>
              <a:t>https://manisa.tarimorman.gov.tr</a:t>
            </a:r>
            <a:endParaRPr lang="tr-TR" dirty="0"/>
          </a:p>
          <a:p>
            <a:r>
              <a:rPr lang="tr-TR" dirty="0">
                <a:hlinkClick r:id="rId4" tooltip="null"/>
              </a:rPr>
              <a:t>https://scikit-learn.org/stable/</a:t>
            </a:r>
            <a:endParaRPr lang="tr-TR" dirty="0"/>
          </a:p>
          <a:p>
            <a:r>
              <a:rPr lang="tr-TR" dirty="0">
                <a:hlinkClick r:id="rId5" tooltip="null"/>
              </a:rPr>
              <a:t>https://pandas.pydata.org</a:t>
            </a:r>
            <a:endParaRPr lang="tr-TR" dirty="0"/>
          </a:p>
          <a:p>
            <a:r>
              <a:rPr lang="tr-TR" dirty="0">
                <a:hlinkClick r:id="rId6" tooltip="null"/>
              </a:rPr>
              <a:t>https://seaborn.pydata.org</a:t>
            </a:r>
            <a:endParaRPr lang="tr-TR" dirty="0"/>
          </a:p>
          <a:p>
            <a:r>
              <a:rPr lang="tr-TR" dirty="0">
                <a:hlinkClick r:id="rId7" tooltip="null"/>
              </a:rPr>
              <a:t>https://arastirma.tarimorman.gov.tr/zae</a:t>
            </a:r>
            <a:endParaRPr lang="tr-TR" dirty="0"/>
          </a:p>
          <a:p>
            <a:r>
              <a:rPr lang="tr-TR" dirty="0" err="1"/>
              <a:t>Chatgpt</a:t>
            </a:r>
            <a:endParaRPr lang="tr-TR" dirty="0"/>
          </a:p>
          <a:p>
            <a:r>
              <a:rPr lang="tr-TR" dirty="0"/>
              <a:t>Gemini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6778975-1767-F80B-D9E9-B4360513B5B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40000"/>
          </a:blip>
          <a:srcRect t="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0487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Yüzeyler">
  <a:themeElements>
    <a:clrScheme name="Yüzeyler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Yüzeyler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üzeyler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</TotalTime>
  <Words>791</Words>
  <Application>Microsoft Office PowerPoint</Application>
  <PresentationFormat>Geniş ekran</PresentationFormat>
  <Paragraphs>175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0" baseType="lpstr">
      <vt:lpstr>Yüzeyler</vt:lpstr>
      <vt:lpstr>MANİSA ZEYTİN ÜRETİMİ ANALİZİ VE 2027 YILI TAHMİNİ</vt:lpstr>
      <vt:lpstr>Keşifsel Veri Analizi: Aykırı Değerler </vt:lpstr>
      <vt:lpstr>Zeytin Üretim İstatistikleri</vt:lpstr>
      <vt:lpstr>İlçeler Arası Korelasyon </vt:lpstr>
      <vt:lpstr>Makine Öğrenmesi ile Kümeleme </vt:lpstr>
      <vt:lpstr>Zaman Serisi ve Regresyon </vt:lpstr>
      <vt:lpstr>2027 Yılı Zeytin Üretim Tahminleri </vt:lpstr>
      <vt:lpstr>Sonuç Olarak;</vt:lpstr>
      <vt:lpstr>BENİ DİNLEDİĞİNİZ İÇİN 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MANİSA ZEYTİN ÜRETİMİ ANALİZİ VE 2027 YILI TAHMİNİ</dc:title>
  <dc:creator>HİKMET G. 2516016024</dc:creator>
  <cp:lastModifiedBy>HİKMET G. 2516016024</cp:lastModifiedBy>
  <cp:revision>9</cp:revision>
  <dcterms:created xsi:type="dcterms:W3CDTF">2026-05-24T09:36:20Z</dcterms:created>
  <dcterms:modified xsi:type="dcterms:W3CDTF">2026-06-01T07:40:03Z</dcterms:modified>
</cp:coreProperties>
</file>